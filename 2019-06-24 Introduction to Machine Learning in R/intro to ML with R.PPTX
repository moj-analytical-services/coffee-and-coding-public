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51CC6-7870-49D9-BA05-A1178A19233E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3F9F-74AA-47D9-99EE-015010B84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88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51CC6-7870-49D9-BA05-A1178A19233E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3F9F-74AA-47D9-99EE-015010B84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7826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51CC6-7870-49D9-BA05-A1178A19233E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3F9F-74AA-47D9-99EE-015010B84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187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51CC6-7870-49D9-BA05-A1178A19233E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3F9F-74AA-47D9-99EE-015010B84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005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51CC6-7870-49D9-BA05-A1178A19233E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3F9F-74AA-47D9-99EE-015010B84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440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51CC6-7870-49D9-BA05-A1178A19233E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3F9F-74AA-47D9-99EE-015010B84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4510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51CC6-7870-49D9-BA05-A1178A19233E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3F9F-74AA-47D9-99EE-015010B84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397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51CC6-7870-49D9-BA05-A1178A19233E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3F9F-74AA-47D9-99EE-015010B84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045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51CC6-7870-49D9-BA05-A1178A19233E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3F9F-74AA-47D9-99EE-015010B84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218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51CC6-7870-49D9-BA05-A1178A19233E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3F9F-74AA-47D9-99EE-015010B84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4707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51CC6-7870-49D9-BA05-A1178A19233E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3F9F-74AA-47D9-99EE-015010B84CE7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1840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51CC6-7870-49D9-BA05-A1178A19233E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3F9F-74AA-47D9-99EE-015010B84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249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51CC6-7870-49D9-BA05-A1178A19233E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3F9F-74AA-47D9-99EE-015010B84CE7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4358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51CC6-7870-49D9-BA05-A1178A19233E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3F9F-74AA-47D9-99EE-015010B84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7356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51CC6-7870-49D9-BA05-A1178A19233E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3F9F-74AA-47D9-99EE-015010B84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869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51CC6-7870-49D9-BA05-A1178A19233E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3F9F-74AA-47D9-99EE-015010B84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343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51CC6-7870-49D9-BA05-A1178A19233E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3AD3F9F-74AA-47D9-99EE-015010B84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12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Unsupervised_learning" TargetMode="External"/><Relationship Id="rId3" Type="http://schemas.openxmlformats.org/officeDocument/2006/relationships/hyperlink" Target="https://en.wikipedia.org/wiki/Computer_vision" TargetMode="External"/><Relationship Id="rId7" Type="http://schemas.openxmlformats.org/officeDocument/2006/relationships/hyperlink" Target="https://en.wikipedia.org/wiki/Exploratory_data_analysis" TargetMode="External"/><Relationship Id="rId2" Type="http://schemas.openxmlformats.org/officeDocument/2006/relationships/hyperlink" Target="https://en.wikipedia.org/wiki/Email_filter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Data_mining" TargetMode="External"/><Relationship Id="rId5" Type="http://schemas.openxmlformats.org/officeDocument/2006/relationships/hyperlink" Target="https://en.wikipedia.org/wiki/Mathematical_optimization" TargetMode="External"/><Relationship Id="rId4" Type="http://schemas.openxmlformats.org/officeDocument/2006/relationships/hyperlink" Target="https://en.wikipedia.org/wiki/Computational_statistics" TargetMode="External"/><Relationship Id="rId9" Type="http://schemas.openxmlformats.org/officeDocument/2006/relationships/hyperlink" Target="https://en.wikipedia.org/wiki/Predictive_analytic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elf-organization" TargetMode="External"/><Relationship Id="rId2" Type="http://schemas.openxmlformats.org/officeDocument/2006/relationships/hyperlink" Target="https://en.wikipedia.org/wiki/Hebbian_learn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Reinforcement_learning" TargetMode="External"/><Relationship Id="rId5" Type="http://schemas.openxmlformats.org/officeDocument/2006/relationships/hyperlink" Target="https://en.wikipedia.org/wiki/Supervised_learning" TargetMode="External"/><Relationship Id="rId4" Type="http://schemas.openxmlformats.org/officeDocument/2006/relationships/hyperlink" Target="https://en.wikipedia.org/wiki/Probability_density_function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Boosting_(machine_learning)#cite_note-7" TargetMode="External"/><Relationship Id="rId13" Type="http://schemas.openxmlformats.org/officeDocument/2006/relationships/hyperlink" Target="https://en.wikipedia.org/wiki/Predictive_modelling" TargetMode="External"/><Relationship Id="rId3" Type="http://schemas.openxmlformats.org/officeDocument/2006/relationships/hyperlink" Target="https://en.wikipedia.org/wiki/Mathematical_optimization" TargetMode="External"/><Relationship Id="rId7" Type="http://schemas.openxmlformats.org/officeDocument/2006/relationships/hyperlink" Target="https://en.wikipedia.org/wiki/Metaheuristic#cite_note-Bianchi2009-2" TargetMode="External"/><Relationship Id="rId12" Type="http://schemas.openxmlformats.org/officeDocument/2006/relationships/hyperlink" Target="https://en.wikipedia.org/wiki/Accuracy" TargetMode="External"/><Relationship Id="rId2" Type="http://schemas.openxmlformats.org/officeDocument/2006/relationships/hyperlink" Target="https://en.wikipedia.org/wiki/Computer_scienc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etaheuristic#cite_note-Bala2015-1" TargetMode="External"/><Relationship Id="rId11" Type="http://schemas.openxmlformats.org/officeDocument/2006/relationships/hyperlink" Target="https://en.wikipedia.org/wiki/Statistics" TargetMode="External"/><Relationship Id="rId5" Type="http://schemas.openxmlformats.org/officeDocument/2006/relationships/hyperlink" Target="https://en.wikipedia.org/wiki/Heuristic_(computer_science)" TargetMode="External"/><Relationship Id="rId10" Type="http://schemas.openxmlformats.org/officeDocument/2006/relationships/hyperlink" Target="https://en.wikipedia.org/wiki/Model_validation" TargetMode="External"/><Relationship Id="rId4" Type="http://schemas.openxmlformats.org/officeDocument/2006/relationships/hyperlink" Target="https://en.wikipedia.org/wiki/Procedure_(computer_science)" TargetMode="External"/><Relationship Id="rId9" Type="http://schemas.openxmlformats.org/officeDocument/2006/relationships/hyperlink" Target="https://en.wikipedia.org/wiki/Boosting_(machine_learning)#cite_note-8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ile:K-fold_cross_validation_EN.jpg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lr.mlr-org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books.google.co.uk/books?id=g6eUoWOlcQMC&amp;dq=papoulis&amp;hl=en&amp;sa=X&amp;ved=0ahUKEwia3dvHif3iAhURTcAKHYL2DNYQ6AEILTAB" TargetMode="External"/><Relationship Id="rId3" Type="http://schemas.openxmlformats.org/officeDocument/2006/relationships/hyperlink" Target="https://books.google.co.uk/books/about/Applied_Linear_Statistical_Models.html?id=0xqCAAAACAAJ&amp;redir_esc=y" TargetMode="External"/><Relationship Id="rId7" Type="http://schemas.openxmlformats.org/officeDocument/2006/relationships/hyperlink" Target="https://books.google.co.uk/books/about/Probability_Random_Variables_And_Random.html?id=ZE9KZZA3eHQC&amp;redir_esc=y" TargetMode="External"/><Relationship Id="rId2" Type="http://schemas.openxmlformats.org/officeDocument/2006/relationships/hyperlink" Target="https://www.wiley.com/en-us/Statistical+Pattern+Recognition,+3rd+Edition-p-978047068227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nlinelibrary.wiley.com/doi/book/10.1002/9780470549124" TargetMode="External"/><Relationship Id="rId5" Type="http://schemas.openxmlformats.org/officeDocument/2006/relationships/hyperlink" Target="https://books.google.co.uk/books?id=EqgACAAAQBAJ&amp;printsec=frontcover&amp;redir_esc=y#v=snippet&amp;q=%22empirical%20risk%20minimization%22%20OR%20%22structural%20risk%20minimization%22&amp;f=false" TargetMode="External"/><Relationship Id="rId4" Type="http://schemas.openxmlformats.org/officeDocument/2006/relationships/hyperlink" Target="https://mlr.mlr-org.com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40FA6-013A-44E3-9115-0878C3096E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dirty="0"/>
              <a:t>Introduction to Machine Learning with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9ED12B-F35F-45A0-B922-0721A86E38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GB" dirty="0"/>
              <a:t>George Papadopoulos</a:t>
            </a:r>
          </a:p>
        </p:txBody>
      </p:sp>
    </p:spTree>
    <p:extLst>
      <p:ext uri="{BB962C8B-B14F-4D97-AF65-F5344CB8AC3E}">
        <p14:creationId xmlns:p14="http://schemas.microsoft.com/office/powerpoint/2010/main" val="132936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29ADD-3453-4980-B90A-6F93CA8D8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Aims of this session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74123-CB3A-4F83-AC2C-50BA35312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aims of this introductory session is to cover Machine Learning with R and how to apply the basic workflow using MLR toolbox. </a:t>
            </a:r>
          </a:p>
          <a:p>
            <a:pPr marL="0" indent="0">
              <a:buNone/>
            </a:pPr>
            <a:r>
              <a:rPr lang="en-GB" dirty="0"/>
              <a:t>More specifically, we will cover the following:</a:t>
            </a:r>
          </a:p>
          <a:p>
            <a:endParaRPr lang="en-GB" dirty="0"/>
          </a:p>
          <a:p>
            <a:r>
              <a:rPr lang="en-GB" dirty="0"/>
              <a:t> Supervised and Unsupervised Learning</a:t>
            </a:r>
          </a:p>
          <a:p>
            <a:r>
              <a:rPr lang="en-GB" dirty="0"/>
              <a:t>Meta Algorithms and model Validation </a:t>
            </a:r>
          </a:p>
          <a:p>
            <a:r>
              <a:rPr lang="en-GB" dirty="0"/>
              <a:t>Modelling workflow </a:t>
            </a:r>
          </a:p>
          <a:p>
            <a:r>
              <a:rPr lang="en-GB" dirty="0"/>
              <a:t>Application examples using MLR package in R </a:t>
            </a:r>
          </a:p>
        </p:txBody>
      </p:sp>
    </p:spTree>
    <p:extLst>
      <p:ext uri="{BB962C8B-B14F-4D97-AF65-F5344CB8AC3E}">
        <p14:creationId xmlns:p14="http://schemas.microsoft.com/office/powerpoint/2010/main" val="3914774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1C947-AC4B-4DE6-B8BF-09D5E48FE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AE384-2420-4897-A7C0-BD5B1580D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Machine Learning (ML) is the process of utilising patterns and inference to enable computer systems perform certain tasks without using explicit instructions. </a:t>
            </a:r>
          </a:p>
          <a:p>
            <a:r>
              <a:rPr lang="en-GB" dirty="0"/>
              <a:t>Key aspects of ML include the following:</a:t>
            </a:r>
          </a:p>
          <a:p>
            <a:pPr lvl="1"/>
            <a:r>
              <a:rPr lang="en-GB" dirty="0"/>
              <a:t>ML systems are based on supplied data to train the system</a:t>
            </a:r>
          </a:p>
          <a:p>
            <a:pPr lvl="1"/>
            <a:r>
              <a:rPr lang="en-GB" dirty="0"/>
              <a:t>Making use of Mathematical Models to map the underlying data</a:t>
            </a:r>
          </a:p>
          <a:p>
            <a:pPr lvl="1"/>
            <a:r>
              <a:rPr lang="en-GB" dirty="0"/>
              <a:t>Machine learning algorithms are used in a wide variety of applications, such as </a:t>
            </a:r>
            <a:r>
              <a:rPr lang="en-GB" dirty="0">
                <a:hlinkClick r:id="rId2" tooltip="Email filtering"/>
              </a:rPr>
              <a:t>email filtering</a:t>
            </a:r>
            <a:r>
              <a:rPr lang="en-GB" dirty="0"/>
              <a:t>, and </a:t>
            </a:r>
            <a:r>
              <a:rPr lang="en-GB" dirty="0">
                <a:hlinkClick r:id="rId3" tooltip="Computer vision"/>
              </a:rPr>
              <a:t>computer vision</a:t>
            </a:r>
            <a:r>
              <a:rPr lang="en-GB" dirty="0"/>
              <a:t>, where it is infeasible to develop an algorithm of specific instructions for performing the task. </a:t>
            </a:r>
          </a:p>
          <a:p>
            <a:pPr lvl="1"/>
            <a:r>
              <a:rPr lang="en-GB" dirty="0"/>
              <a:t>Machine learning is closely related to </a:t>
            </a:r>
            <a:r>
              <a:rPr lang="en-GB" dirty="0">
                <a:hlinkClick r:id="rId4" tooltip="Computational statistics"/>
              </a:rPr>
              <a:t>computational statistics</a:t>
            </a:r>
            <a:r>
              <a:rPr lang="en-GB" dirty="0"/>
              <a:t>, which focuses on making predictions using computers. </a:t>
            </a:r>
          </a:p>
          <a:p>
            <a:pPr lvl="1"/>
            <a:r>
              <a:rPr lang="en-GB" dirty="0"/>
              <a:t>The study of </a:t>
            </a:r>
            <a:r>
              <a:rPr lang="en-GB" dirty="0">
                <a:hlinkClick r:id="rId5" tooltip="Mathematical optimization"/>
              </a:rPr>
              <a:t>mathematical optimization</a:t>
            </a:r>
            <a:r>
              <a:rPr lang="en-GB" dirty="0"/>
              <a:t> delivers methods, theory and application domains to the field of machine learning. </a:t>
            </a:r>
            <a:r>
              <a:rPr lang="en-GB" dirty="0">
                <a:hlinkClick r:id="rId6" tooltip="Data mining"/>
              </a:rPr>
              <a:t>Data mining</a:t>
            </a:r>
            <a:r>
              <a:rPr lang="en-GB" dirty="0"/>
              <a:t> is a field of study within machine learning, and focuses on </a:t>
            </a:r>
            <a:r>
              <a:rPr lang="en-GB" dirty="0">
                <a:hlinkClick r:id="rId7" tooltip="Exploratory data analysis"/>
              </a:rPr>
              <a:t>exploratory data analysis</a:t>
            </a:r>
            <a:r>
              <a:rPr lang="en-GB" dirty="0"/>
              <a:t> through </a:t>
            </a:r>
            <a:r>
              <a:rPr lang="en-GB" dirty="0">
                <a:hlinkClick r:id="rId8" tooltip="Unsupervised learning"/>
              </a:rPr>
              <a:t>unsupervised learning</a:t>
            </a:r>
            <a:r>
              <a:rPr lang="en-GB" dirty="0"/>
              <a:t>. </a:t>
            </a:r>
          </a:p>
          <a:p>
            <a:pPr lvl="1"/>
            <a:r>
              <a:rPr lang="en-GB" dirty="0"/>
              <a:t>In its application across business problems, machine learning is also referred to as </a:t>
            </a:r>
            <a:r>
              <a:rPr lang="en-GB" dirty="0">
                <a:hlinkClick r:id="rId9" tooltip="Predictive analytics"/>
              </a:rPr>
              <a:t>predictive analytics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4938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C14A3-403D-4A9B-BAB9-FD303C629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Supervised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200FF-F02A-4661-8794-49DC0A293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Machine learning task the input/output data pairs are mapped to a function</a:t>
            </a:r>
          </a:p>
          <a:p>
            <a:r>
              <a:rPr lang="en-GB" dirty="0"/>
              <a:t>Training data must have examples of input output relationship</a:t>
            </a:r>
          </a:p>
          <a:p>
            <a:pPr lvl="1"/>
            <a:r>
              <a:rPr lang="en-GB" dirty="0"/>
              <a:t>Training data is analysed and a function is inferred to describe this relationship. This can be used to map new information/examples</a:t>
            </a:r>
          </a:p>
          <a:p>
            <a:r>
              <a:rPr lang="en-GB" dirty="0"/>
              <a:t>Optimality criteria are in place to ensure correct allocation of classes/labels for predicted instances</a:t>
            </a:r>
          </a:p>
          <a:p>
            <a:pPr lvl="1"/>
            <a:r>
              <a:rPr lang="en-GB" dirty="0"/>
              <a:t>Proper training will ensure that the model will generalise well to unseen data </a:t>
            </a:r>
          </a:p>
          <a:p>
            <a:pPr lvl="1"/>
            <a:r>
              <a:rPr lang="en-GB" dirty="0"/>
              <a:t>An objective function is commonly used along with a set of constraints to determine the value of the model/function parameters</a:t>
            </a:r>
          </a:p>
          <a:p>
            <a:r>
              <a:rPr lang="en-GB" dirty="0"/>
              <a:t>Examples: any regression methodology, SVM, NNs, etc</a:t>
            </a:r>
          </a:p>
        </p:txBody>
      </p:sp>
    </p:spTree>
    <p:extLst>
      <p:ext uri="{BB962C8B-B14F-4D97-AF65-F5344CB8AC3E}">
        <p14:creationId xmlns:p14="http://schemas.microsoft.com/office/powerpoint/2010/main" val="738263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20D1-8CB3-4EEB-A38E-7017360E4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Unsupervised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E6E01-8A78-4F78-A0FB-6CCA759C9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Unsupervised learning </a:t>
            </a:r>
            <a:r>
              <a:rPr lang="en-GB" dirty="0"/>
              <a:t>is a type of self organised learning that exploits relationships within the data to discover classes/labels</a:t>
            </a:r>
          </a:p>
          <a:p>
            <a:pPr lvl="1"/>
            <a:r>
              <a:rPr lang="en-GB" dirty="0"/>
              <a:t>Similar to how self organised </a:t>
            </a:r>
            <a:r>
              <a:rPr lang="en-GB" dirty="0">
                <a:hlinkClick r:id="rId2" tooltip="Hebbian learning"/>
              </a:rPr>
              <a:t>Hebbian learning</a:t>
            </a:r>
            <a:r>
              <a:rPr lang="en-GB" dirty="0"/>
              <a:t> </a:t>
            </a:r>
          </a:p>
          <a:p>
            <a:pPr lvl="1"/>
            <a:r>
              <a:rPr lang="en-GB" dirty="0"/>
              <a:t>No training input / output pairs are required</a:t>
            </a:r>
          </a:p>
          <a:p>
            <a:r>
              <a:rPr lang="en-GB" dirty="0"/>
              <a:t>Also related to </a:t>
            </a:r>
            <a:r>
              <a:rPr lang="en-GB" dirty="0">
                <a:hlinkClick r:id="rId3" tooltip="Self-organization"/>
              </a:rPr>
              <a:t>self-organization</a:t>
            </a:r>
            <a:r>
              <a:rPr lang="en-GB" dirty="0"/>
              <a:t> and able to model </a:t>
            </a:r>
            <a:r>
              <a:rPr lang="en-GB" dirty="0">
                <a:hlinkClick r:id="rId4" tooltip="Probability density function"/>
              </a:rPr>
              <a:t>probability densities</a:t>
            </a:r>
            <a:r>
              <a:rPr lang="en-GB" dirty="0"/>
              <a:t> of the data variables</a:t>
            </a:r>
          </a:p>
          <a:p>
            <a:r>
              <a:rPr lang="en-GB" dirty="0"/>
              <a:t>It is one of the main three categories of machine learning, along with </a:t>
            </a:r>
            <a:r>
              <a:rPr lang="en-GB" dirty="0">
                <a:hlinkClick r:id="rId5" tooltip="Supervised learning"/>
              </a:rPr>
              <a:t>supervised</a:t>
            </a:r>
            <a:r>
              <a:rPr lang="en-GB" dirty="0"/>
              <a:t> and </a:t>
            </a:r>
            <a:r>
              <a:rPr lang="en-GB" dirty="0">
                <a:hlinkClick r:id="rId6" tooltip="Reinforcement learning"/>
              </a:rPr>
              <a:t>reinforcement learning</a:t>
            </a:r>
            <a:r>
              <a:rPr lang="en-GB" dirty="0"/>
              <a:t>. </a:t>
            </a:r>
          </a:p>
          <a:p>
            <a:r>
              <a:rPr lang="en-GB" dirty="0"/>
              <a:t>Other hybrids include the Semi-Supervised learning where the two major categories of supervised and unsupervised learning are combined</a:t>
            </a:r>
          </a:p>
          <a:p>
            <a:r>
              <a:rPr lang="en-GB" dirty="0"/>
              <a:t>Examples: PCA, Cluster Analysis, Density Estimation (KDE etc), NNs</a:t>
            </a:r>
          </a:p>
        </p:txBody>
      </p:sp>
    </p:spTree>
    <p:extLst>
      <p:ext uri="{BB962C8B-B14F-4D97-AF65-F5344CB8AC3E}">
        <p14:creationId xmlns:p14="http://schemas.microsoft.com/office/powerpoint/2010/main" val="1946171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2098-ED4C-4FBB-8532-25C6BE724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Meta Algorithms and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2A2CE-6F5E-407B-AB2E-C66DC2BC0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In </a:t>
            </a:r>
            <a:r>
              <a:rPr lang="en-GB" dirty="0">
                <a:hlinkClick r:id="rId2" tooltip="Computer science"/>
              </a:rPr>
              <a:t>computer science</a:t>
            </a:r>
            <a:r>
              <a:rPr lang="en-GB" dirty="0"/>
              <a:t> and </a:t>
            </a:r>
            <a:r>
              <a:rPr lang="en-GB" dirty="0">
                <a:hlinkClick r:id="rId3" tooltip="Mathematical optimization"/>
              </a:rPr>
              <a:t>mathematical optimization</a:t>
            </a:r>
            <a:r>
              <a:rPr lang="en-GB" dirty="0"/>
              <a:t>, a </a:t>
            </a:r>
            <a:r>
              <a:rPr lang="en-GB" b="1" dirty="0"/>
              <a:t>metaheuristic/meta algorithm</a:t>
            </a:r>
            <a:r>
              <a:rPr lang="en-GB" dirty="0"/>
              <a:t> is a higher-level </a:t>
            </a:r>
            <a:r>
              <a:rPr lang="en-GB" dirty="0">
                <a:hlinkClick r:id="rId4" tooltip="Procedure (computer science)"/>
              </a:rPr>
              <a:t>procedure</a:t>
            </a:r>
            <a:r>
              <a:rPr lang="en-GB" dirty="0"/>
              <a:t> or </a:t>
            </a:r>
            <a:r>
              <a:rPr lang="en-GB" dirty="0">
                <a:hlinkClick r:id="rId5" tooltip="Heuristic (computer science)"/>
              </a:rPr>
              <a:t>heuristic</a:t>
            </a:r>
            <a:r>
              <a:rPr lang="en-GB" dirty="0"/>
              <a:t> designed to either select an optimal methodology or combine several ones to provide a better result</a:t>
            </a:r>
          </a:p>
          <a:p>
            <a:pPr lvl="1"/>
            <a:r>
              <a:rPr lang="en-GB" dirty="0"/>
              <a:t>These techniques may provide better solutions based on an incomplete information or when the system has limited resources</a:t>
            </a:r>
            <a:r>
              <a:rPr lang="en-GB" baseline="30000" dirty="0">
                <a:hlinkClick r:id="rId6"/>
              </a:rPr>
              <a:t>[1]</a:t>
            </a:r>
            <a:r>
              <a:rPr lang="en-GB" baseline="30000" dirty="0">
                <a:hlinkClick r:id="rId7"/>
              </a:rPr>
              <a:t>[2]</a:t>
            </a:r>
            <a:r>
              <a:rPr lang="en-GB" dirty="0"/>
              <a:t> </a:t>
            </a:r>
          </a:p>
          <a:p>
            <a:pPr lvl="1"/>
            <a:r>
              <a:rPr lang="en-GB" dirty="0"/>
              <a:t>Examples: Boosting</a:t>
            </a:r>
            <a:r>
              <a:rPr lang="en-GB" u="sng" baseline="30000" dirty="0">
                <a:hlinkClick r:id="rId8"/>
              </a:rPr>
              <a:t>[3]</a:t>
            </a:r>
            <a:r>
              <a:rPr lang="en-GB" dirty="0">
                <a:hlinkClick r:id="rId9"/>
              </a:rPr>
              <a:t> </a:t>
            </a:r>
            <a:r>
              <a:rPr lang="en-GB" u="sng" baseline="30000" dirty="0">
                <a:hlinkClick r:id="rId9"/>
              </a:rPr>
              <a:t>[4]</a:t>
            </a:r>
            <a:endParaRPr lang="en-GB" u="sng" baseline="30000" dirty="0"/>
          </a:p>
          <a:p>
            <a:r>
              <a:rPr lang="en-GB" b="1" dirty="0"/>
              <a:t>Cross-Validation</a:t>
            </a:r>
            <a:r>
              <a:rPr lang="en-GB" dirty="0"/>
              <a:t> is the process where a portion of the data is used at a time to train the system with the rest used as the test set</a:t>
            </a:r>
          </a:p>
          <a:p>
            <a:pPr lvl="1"/>
            <a:r>
              <a:rPr lang="en-GB" dirty="0"/>
              <a:t>This is conducted multiple times with the window of training and testing data being rotated</a:t>
            </a:r>
          </a:p>
          <a:p>
            <a:pPr lvl="1"/>
            <a:r>
              <a:rPr lang="en-GB" dirty="0"/>
              <a:t>This is a type of </a:t>
            </a:r>
            <a:r>
              <a:rPr lang="en-GB" dirty="0">
                <a:hlinkClick r:id="rId10" tooltip="Model validation"/>
              </a:rPr>
              <a:t>model validation</a:t>
            </a:r>
            <a:r>
              <a:rPr lang="en-GB" dirty="0"/>
              <a:t> technique for assessing how the results of a </a:t>
            </a:r>
            <a:r>
              <a:rPr lang="en-GB" dirty="0">
                <a:hlinkClick r:id="rId11" tooltip="Statistics"/>
              </a:rPr>
              <a:t>statistical</a:t>
            </a:r>
            <a:r>
              <a:rPr lang="en-GB" dirty="0"/>
              <a:t> analysis will change when independent/unseen data is introduced</a:t>
            </a:r>
          </a:p>
          <a:p>
            <a:pPr lvl="1"/>
            <a:r>
              <a:rPr lang="en-GB" dirty="0"/>
              <a:t>It is used primarily with prediction in mind and the goal is to estimate how  </a:t>
            </a:r>
            <a:r>
              <a:rPr lang="en-GB" dirty="0">
                <a:hlinkClick r:id="rId12" tooltip="Accuracy"/>
              </a:rPr>
              <a:t>accurately</a:t>
            </a:r>
            <a:r>
              <a:rPr lang="en-GB" dirty="0"/>
              <a:t> a </a:t>
            </a:r>
            <a:r>
              <a:rPr lang="en-GB" dirty="0">
                <a:hlinkClick r:id="rId13" tooltip="Predictive modelling"/>
              </a:rPr>
              <a:t>predictive model</a:t>
            </a:r>
            <a:r>
              <a:rPr lang="en-GB" dirty="0"/>
              <a:t> will perform in practice.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2330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38C84-E45E-4143-9A31-F3E88D96F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Schematic Diagram of Cross Validation</a:t>
            </a:r>
            <a:br>
              <a:rPr lang="en-GB" dirty="0"/>
            </a:br>
            <a:endParaRPr lang="en-GB" dirty="0"/>
          </a:p>
        </p:txBody>
      </p:sp>
      <p:pic>
        <p:nvPicPr>
          <p:cNvPr id="1026" name="Picture 2" descr="https://upload.wikimedia.org/wikipedia/commons/1/1c/K-fold_cross_validation_EN.jpg">
            <a:extLst>
              <a:ext uri="{FF2B5EF4-FFF2-40B4-BE49-F238E27FC236}">
                <a16:creationId xmlns:a16="http://schemas.microsoft.com/office/drawing/2014/main" id="{E69A5330-3AE0-4ACE-AD08-F1ACAC6523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919" y="2437606"/>
            <a:ext cx="6680200" cy="332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7301B5-6389-47E8-91BD-09CFB8FEB3F4}"/>
              </a:ext>
            </a:extLst>
          </p:cNvPr>
          <p:cNvSpPr txBox="1"/>
          <p:nvPr/>
        </p:nvSpPr>
        <p:spPr>
          <a:xfrm>
            <a:off x="6803647" y="6017208"/>
            <a:ext cx="2470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Source: </a:t>
            </a:r>
            <a:r>
              <a:rPr lang="en-GB" dirty="0">
                <a:hlinkClick r:id="rId3"/>
              </a:rPr>
              <a:t>Wikipedia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2098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7B504-C2BC-4229-B778-0AEE45D9F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Modelling Workflow in MLR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96BB5664-472F-42DD-929A-BD87603AD452}"/>
              </a:ext>
            </a:extLst>
          </p:cNvPr>
          <p:cNvSpPr/>
          <p:nvPr/>
        </p:nvSpPr>
        <p:spPr>
          <a:xfrm>
            <a:off x="422032" y="2412609"/>
            <a:ext cx="1385667" cy="75965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Pre-Processing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18EEAF0E-AAAD-4BCE-ADC1-0814A8323EE5}"/>
              </a:ext>
            </a:extLst>
          </p:cNvPr>
          <p:cNvSpPr/>
          <p:nvPr/>
        </p:nvSpPr>
        <p:spPr>
          <a:xfrm>
            <a:off x="2269589" y="2412609"/>
            <a:ext cx="1385667" cy="75965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Create Task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A394EC5-14EF-4874-B613-BB7144E6F139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1807699" y="2792437"/>
            <a:ext cx="4618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860B28C4-4E9B-475D-B773-E1D4416DAEF7}"/>
              </a:ext>
            </a:extLst>
          </p:cNvPr>
          <p:cNvSpPr/>
          <p:nvPr/>
        </p:nvSpPr>
        <p:spPr>
          <a:xfrm>
            <a:off x="4173810" y="2412609"/>
            <a:ext cx="1385667" cy="75965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Create Learner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59495403-E626-446C-A85C-1C5C08BD26FB}"/>
              </a:ext>
            </a:extLst>
          </p:cNvPr>
          <p:cNvSpPr/>
          <p:nvPr/>
        </p:nvSpPr>
        <p:spPr>
          <a:xfrm>
            <a:off x="6163995" y="2412609"/>
            <a:ext cx="1385667" cy="75965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Train Model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B79F734C-43C8-4F3E-A4B3-39C39D5657A8}"/>
              </a:ext>
            </a:extLst>
          </p:cNvPr>
          <p:cNvSpPr/>
          <p:nvPr/>
        </p:nvSpPr>
        <p:spPr>
          <a:xfrm>
            <a:off x="9563293" y="2412609"/>
            <a:ext cx="1385667" cy="75965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Predict or</a:t>
            </a:r>
          </a:p>
          <a:p>
            <a:pPr algn="ctr"/>
            <a:r>
              <a:rPr lang="en-GB" dirty="0"/>
              <a:t>Simulate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E1CA56D-DB78-48A4-B4D7-93590A1D3203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3655256" y="2792437"/>
            <a:ext cx="5185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92BD0D0-1FE7-4048-92F8-44A41092F12F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5559477" y="2792437"/>
            <a:ext cx="604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Decision 21">
            <a:extLst>
              <a:ext uri="{FF2B5EF4-FFF2-40B4-BE49-F238E27FC236}">
                <a16:creationId xmlns:a16="http://schemas.microsoft.com/office/drawing/2014/main" id="{C6094568-2771-46DF-AF42-4C873F004146}"/>
              </a:ext>
            </a:extLst>
          </p:cNvPr>
          <p:cNvSpPr/>
          <p:nvPr/>
        </p:nvSpPr>
        <p:spPr>
          <a:xfrm>
            <a:off x="8265942" y="2328203"/>
            <a:ext cx="783102" cy="928467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Flowchart: Process 22">
            <a:extLst>
              <a:ext uri="{FF2B5EF4-FFF2-40B4-BE49-F238E27FC236}">
                <a16:creationId xmlns:a16="http://schemas.microsoft.com/office/drawing/2014/main" id="{F92AFC66-080C-4E84-9D62-339C0F2B40C8}"/>
              </a:ext>
            </a:extLst>
          </p:cNvPr>
          <p:cNvSpPr/>
          <p:nvPr/>
        </p:nvSpPr>
        <p:spPr>
          <a:xfrm>
            <a:off x="7964659" y="4248445"/>
            <a:ext cx="1385667" cy="75965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Resampling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1D2EB81-D323-43CE-B61E-D38D39476DAA}"/>
              </a:ext>
            </a:extLst>
          </p:cNvPr>
          <p:cNvCxnSpPr>
            <a:stCxn id="11" idx="3"/>
            <a:endCxn id="22" idx="1"/>
          </p:cNvCxnSpPr>
          <p:nvPr/>
        </p:nvCxnSpPr>
        <p:spPr>
          <a:xfrm>
            <a:off x="7549662" y="2792437"/>
            <a:ext cx="716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806792-D4A7-4769-8590-2152AD27F48B}"/>
              </a:ext>
            </a:extLst>
          </p:cNvPr>
          <p:cNvCxnSpPr>
            <a:stCxn id="22" idx="3"/>
            <a:endCxn id="12" idx="1"/>
          </p:cNvCxnSpPr>
          <p:nvPr/>
        </p:nvCxnSpPr>
        <p:spPr>
          <a:xfrm>
            <a:off x="9049044" y="2792437"/>
            <a:ext cx="514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2897359-3AD5-4DD2-9644-2B369E703528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>
            <a:off x="8657493" y="3256670"/>
            <a:ext cx="0" cy="991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Process 29">
            <a:extLst>
              <a:ext uri="{FF2B5EF4-FFF2-40B4-BE49-F238E27FC236}">
                <a16:creationId xmlns:a16="http://schemas.microsoft.com/office/drawing/2014/main" id="{F8EC57C9-C568-475C-A5D6-73F8D9A346AE}"/>
              </a:ext>
            </a:extLst>
          </p:cNvPr>
          <p:cNvSpPr/>
          <p:nvPr/>
        </p:nvSpPr>
        <p:spPr>
          <a:xfrm>
            <a:off x="6163994" y="4248445"/>
            <a:ext cx="1385667" cy="75965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Tune Parameters</a:t>
            </a:r>
          </a:p>
          <a:p>
            <a:pPr algn="ctr"/>
            <a:endParaRPr lang="en-GB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A7A7BBE-017A-4F45-A46E-B91F63CE7DDD}"/>
              </a:ext>
            </a:extLst>
          </p:cNvPr>
          <p:cNvCxnSpPr>
            <a:stCxn id="23" idx="1"/>
            <a:endCxn id="30" idx="3"/>
          </p:cNvCxnSpPr>
          <p:nvPr/>
        </p:nvCxnSpPr>
        <p:spPr>
          <a:xfrm flipH="1">
            <a:off x="7549661" y="4628273"/>
            <a:ext cx="414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54499CA-415E-4DAE-8F7F-1CF177224CEB}"/>
              </a:ext>
            </a:extLst>
          </p:cNvPr>
          <p:cNvCxnSpPr>
            <a:stCxn id="30" idx="0"/>
            <a:endCxn id="11" idx="2"/>
          </p:cNvCxnSpPr>
          <p:nvPr/>
        </p:nvCxnSpPr>
        <p:spPr>
          <a:xfrm flipV="1">
            <a:off x="6856828" y="3172265"/>
            <a:ext cx="1" cy="1076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2D056A6-266D-4F79-AAD3-BC1ECD2D108A}"/>
              </a:ext>
            </a:extLst>
          </p:cNvPr>
          <p:cNvSpPr txBox="1"/>
          <p:nvPr/>
        </p:nvSpPr>
        <p:spPr>
          <a:xfrm>
            <a:off x="7757160" y="1981814"/>
            <a:ext cx="2157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Is the model adequate?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94CAFE-6380-43AD-B552-B047C7D4CAE7}"/>
              </a:ext>
            </a:extLst>
          </p:cNvPr>
          <p:cNvSpPr txBox="1"/>
          <p:nvPr/>
        </p:nvSpPr>
        <p:spPr>
          <a:xfrm>
            <a:off x="9049044" y="2515437"/>
            <a:ext cx="5618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Yes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62DA21-D20C-4C17-8633-FB289AA473F2}"/>
              </a:ext>
            </a:extLst>
          </p:cNvPr>
          <p:cNvSpPr txBox="1"/>
          <p:nvPr/>
        </p:nvSpPr>
        <p:spPr>
          <a:xfrm>
            <a:off x="8638735" y="3381940"/>
            <a:ext cx="5618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No</a:t>
            </a:r>
          </a:p>
        </p:txBody>
      </p: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7B4C067B-96B1-483F-BDF0-D2D8090ACC24}"/>
              </a:ext>
            </a:extLst>
          </p:cNvPr>
          <p:cNvSpPr/>
          <p:nvPr/>
        </p:nvSpPr>
        <p:spPr>
          <a:xfrm>
            <a:off x="2269589" y="4248445"/>
            <a:ext cx="1385667" cy="75965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 Model Parameters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B652B26-60F7-48CA-AD11-2DFEE1992D45}"/>
              </a:ext>
            </a:extLst>
          </p:cNvPr>
          <p:cNvCxnSpPr>
            <a:stCxn id="38" idx="0"/>
            <a:endCxn id="7" idx="2"/>
          </p:cNvCxnSpPr>
          <p:nvPr/>
        </p:nvCxnSpPr>
        <p:spPr>
          <a:xfrm flipV="1">
            <a:off x="2962423" y="3172265"/>
            <a:ext cx="0" cy="1076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21B7148-9BAB-46E2-A21E-BC7110574D76}"/>
              </a:ext>
            </a:extLst>
          </p:cNvPr>
          <p:cNvSpPr txBox="1"/>
          <p:nvPr/>
        </p:nvSpPr>
        <p:spPr>
          <a:xfrm>
            <a:off x="6991643" y="5774788"/>
            <a:ext cx="2497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Source: </a:t>
            </a:r>
            <a:r>
              <a:rPr lang="en-GB" dirty="0">
                <a:hlinkClick r:id="rId2"/>
              </a:rPr>
              <a:t>MLR Package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3993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10F88-A365-47F5-8929-00F574F9E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D44A1-2800-4230-AC6A-C22961B3C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hlinkClick r:id="rId2"/>
              </a:rPr>
              <a:t>Statistical Pattern Recognition, 3rd Edition</a:t>
            </a:r>
            <a:endParaRPr lang="en-GB" b="1" dirty="0"/>
          </a:p>
          <a:p>
            <a:r>
              <a:rPr lang="en-GB" b="1" dirty="0">
                <a:hlinkClick r:id="rId3"/>
              </a:rPr>
              <a:t>Applied Linear Statistical Models</a:t>
            </a:r>
            <a:endParaRPr lang="en-GB" b="1" dirty="0"/>
          </a:p>
          <a:p>
            <a:r>
              <a:rPr lang="en-GB" b="1" dirty="0">
                <a:hlinkClick r:id="rId4"/>
              </a:rPr>
              <a:t>MLR Package </a:t>
            </a:r>
            <a:endParaRPr lang="en-GB" b="1" dirty="0"/>
          </a:p>
          <a:p>
            <a:r>
              <a:rPr lang="en-GB" b="1" dirty="0">
                <a:hlinkClick r:id="rId5"/>
              </a:rPr>
              <a:t>The Nature of Statistical Learning Theory</a:t>
            </a:r>
            <a:endParaRPr lang="en-GB" b="1" dirty="0"/>
          </a:p>
          <a:p>
            <a:r>
              <a:rPr lang="en-GB" b="1" dirty="0">
                <a:hlinkClick r:id="rId6"/>
              </a:rPr>
              <a:t>Engineering Optimization: Theory and Practice, Fourth Edition</a:t>
            </a:r>
            <a:endParaRPr lang="en-GB" b="1" dirty="0"/>
          </a:p>
          <a:p>
            <a:r>
              <a:rPr lang="en-GB" b="1" dirty="0">
                <a:hlinkClick r:id="rId7"/>
              </a:rPr>
              <a:t>Probability, Random Variables And Random Signal Principles</a:t>
            </a:r>
            <a:endParaRPr lang="en-GB" b="1" dirty="0"/>
          </a:p>
          <a:p>
            <a:r>
              <a:rPr lang="en-GB" b="1" dirty="0">
                <a:hlinkClick r:id="rId8"/>
              </a:rPr>
              <a:t>Probability, Random Variables, and Stochastic Processes</a:t>
            </a:r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9231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F91FD-426B-46DF-8931-19A1B19BA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 Examples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50568-1C1D-437A-B9B6-E0C80B757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Code in R is provided here</a:t>
            </a:r>
          </a:p>
          <a:p>
            <a:r>
              <a:rPr lang="en-GB" dirty="0"/>
              <a:t>The examples illustrate how to use the MLR package in R based on the modelling workflow described earlier</a:t>
            </a:r>
          </a:p>
          <a:p>
            <a:r>
              <a:rPr lang="en-GB" dirty="0"/>
              <a:t>MLR offers a plethora of methodologies to work with</a:t>
            </a:r>
          </a:p>
          <a:p>
            <a:r>
              <a:rPr lang="en-GB" dirty="0"/>
              <a:t>Offers adequate visualization</a:t>
            </a:r>
          </a:p>
          <a:p>
            <a:r>
              <a:rPr lang="en-GB" dirty="0"/>
              <a:t>It can be extended to use customised measures and modelling techniques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0441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8C7B2-1C04-4909-9F35-E16685DB1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Any 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B8F72-A95B-4B4F-BF41-60E1502BB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432543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304</TotalTime>
  <Words>414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Introduction to Machine Learning with R</vt:lpstr>
      <vt:lpstr>Aims of this session </vt:lpstr>
      <vt:lpstr>Machine Learning</vt:lpstr>
      <vt:lpstr>Supervised Learning </vt:lpstr>
      <vt:lpstr>Unsupervised Learning </vt:lpstr>
      <vt:lpstr>Meta Algorithms and Validation</vt:lpstr>
      <vt:lpstr>Schematic Diagram of Cross Validation </vt:lpstr>
      <vt:lpstr>Modelling Workflow in MLR</vt:lpstr>
      <vt:lpstr>Resources</vt:lpstr>
      <vt:lpstr>Application Examples 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 with R</dc:title>
  <dc:creator>Papadopoulos, George</dc:creator>
  <cp:lastModifiedBy>Papadopoulos, George</cp:lastModifiedBy>
  <cp:revision>15</cp:revision>
  <dcterms:created xsi:type="dcterms:W3CDTF">2019-06-10T13:01:47Z</dcterms:created>
  <dcterms:modified xsi:type="dcterms:W3CDTF">2019-06-24T10:13:14Z</dcterms:modified>
</cp:coreProperties>
</file>